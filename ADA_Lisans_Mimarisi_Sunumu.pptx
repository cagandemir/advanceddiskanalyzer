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9FA"/>
                </a:solidFill>
                <a:latin typeface="Outfit"/>
              </a:defRPr>
            </a:pPr>
            <a:r>
              <a:t>ADA (Advanced Disk Analyzer) v2.0</a:t>
            </a:r>
          </a:p>
          <a:p>
            <a:pPr>
              <a:spcBef>
                <a:spcPts val="1000"/>
              </a:spcBef>
              <a:defRPr sz="2400" b="1">
                <a:solidFill>
                  <a:srgbClr val="4CC9F0"/>
                </a:solidFill>
                <a:latin typeface="Outfit"/>
              </a:defRPr>
            </a:pPr>
            <a:r>
              <a:t>Gelişmiş Lisans ve Aktivasyon Sistemi Mimarisi</a:t>
            </a:r>
          </a:p>
          <a:p>
            <a:pPr>
              <a:spcBef>
                <a:spcPts val="1500"/>
              </a:spcBef>
              <a:defRPr sz="1400">
                <a:solidFill>
                  <a:srgbClr val="9EA3B0"/>
                </a:solidFill>
                <a:latin typeface="Outfit"/>
              </a:defRPr>
            </a:pPr>
            <a:r>
              <a:t>RSA-SHA256 Dijital İmzalama • Dual-Mode Depolama (XML/SQL Server) • Web Satın Alma Simülatörü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Genel Mimari ve Veri Depolama Lokasyonları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121324"/>
          </a:solidFill>
          <a:ln>
            <a:solidFill>
              <a:srgbClr val="23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5E60CE"/>
                </a:solidFill>
              </a:defRPr>
            </a:pPr>
            <a:r>
              <a:t>💻 İSTEMCİ HAREKETLERİ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Veriler Windows Kayıt Defteri'nde (Registry HKCU) saklanır.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HKCU\Software\AdvancedDiskAnalyzer\License dizini kullanılır.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Saklanan Değerler: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  • ServerUrl: Sunucu API adresi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  • AccountEmail &amp; Token: Oturum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  • Key: Sunucudan alınan dijital lisans anahtarı (RSA imzalı)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121324"/>
          </a:solidFill>
          <a:ln>
            <a:solidFill>
              <a:srgbClr val="23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4CC9F0"/>
                </a:solidFill>
              </a:defRPr>
            </a:pPr>
            <a:r>
              <a:t>📁 XML MOD (FALLBACK)</a:t>
            </a:r>
          </a:p>
          <a:p>
            <a:pPr>
              <a:spcBef>
                <a:spcPts val="1000"/>
              </a:spcBef>
              <a:defRPr sz="1200">
                <a:solidFill>
                  <a:srgbClr val="F8F9FA"/>
                </a:solidFill>
              </a:defRPr>
            </a:pPr>
            <a:r>
              <a:t>Varsayılan ve sıfır bağımlılıklı yerel depolama modelidir.</a:t>
            </a:r>
          </a:p>
          <a:p>
            <a:pPr>
              <a:spcBef>
                <a:spcPts val="1000"/>
              </a:spcBef>
              <a:defRPr sz="1200">
                <a:solidFill>
                  <a:srgbClr val="F8F9FA"/>
                </a:solidFill>
              </a:defRPr>
            </a:pPr>
            <a:r>
              <a:t>Veriler DataSet şemasında bellekte tutulur, diske XML yazılır.</a:t>
            </a:r>
          </a:p>
          <a:p>
            <a:pPr>
              <a:spcBef>
                <a:spcPts val="1000"/>
              </a:spcBef>
              <a:defRPr sz="1200">
                <a:solidFill>
                  <a:srgbClr val="F8F9FA"/>
                </a:solidFill>
              </a:defRPr>
            </a:pPr>
            <a:r>
              <a:t>Dosya Yolu: %LOCALAPPDATA%\AdvancedDiskAnalyzer\LicenseServer\license-db.xml</a:t>
            </a:r>
          </a:p>
          <a:p>
            <a:pPr>
              <a:spcBef>
                <a:spcPts val="1000"/>
              </a:spcBef>
              <a:defRPr sz="1200">
                <a:solidFill>
                  <a:srgbClr val="F8F9FA"/>
                </a:solidFill>
              </a:defRPr>
            </a:pPr>
            <a:r>
              <a:t>Eşzamanlılık (Concurrency), sınıf içi dbLock nesnesiyle güvenli hale getirilir.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45920"/>
            <a:ext cx="3291840" cy="4389120"/>
          </a:xfrm>
          <a:prstGeom prst="roundRect">
            <a:avLst/>
          </a:prstGeom>
          <a:solidFill>
            <a:srgbClr val="121324"/>
          </a:solidFill>
          <a:ln>
            <a:solidFill>
              <a:srgbClr val="23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4CC98C"/>
                </a:solidFill>
              </a:defRPr>
            </a:pPr>
            <a:r>
              <a:t>🛢️ SQL SERVER MODU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Kurumsal dağıtımlar için SQL Server entegrasyonu sunar.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System.Data.SqlClient ile native (ADO.NET) bağlantı kurulur.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Parametreler çevre değişkenlerinden alınır: ADA_DB_TYPE=MSSQL ve ADA_DB_CONNECTION</a:t>
            </a:r>
          </a:p>
          <a:p>
            <a:pPr>
              <a:spcBef>
                <a:spcPts val="800"/>
              </a:spcBef>
              <a:defRPr sz="1200">
                <a:solidFill>
                  <a:srgbClr val="F8F9FA"/>
                </a:solidFill>
              </a:defRPr>
            </a:pPr>
            <a:r>
              <a:t>Tablolar (Accounts, LicenseCodes, Licenses, Sessions) otomatik olarak oluşturulur.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Güvenli Kullanıcı Yönetimi ve Oturum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🔒 PBKDF2 Şifre Koruması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Şifreler veritabanına açık olarak kaydedilmez. PBKDF2-HMACSHA1 algoritması kullanılır.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Süreç: 16 baytlık CSPRNG ile üretilen rastgele tuz (Salt) + 120,000 iterasyon uygulanarak 32 baytlık nihai şifre karma değeri (Hash) elde edilir.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Karşılaştırma aşamasında, 'Constant-Time' (sabit zamanlı) XOR algoritması kullanılarak zamanlama analiz saldırıları engellenir.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Oturum kontrolü: Login başarılı olduğunda 256-bit CSPRNG rastgele oturum jetonu (Token) üretilir ve 30 gün geçerlilik süresiyle Sessions tablosuna yazılır.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389120" cy="4389120"/>
          </a:xfrm>
          <a:prstGeom prst="roundRect">
            <a:avLst/>
          </a:prstGeom>
          <a:solidFill>
            <a:srgbClr val="121324"/>
          </a:solidFill>
          <a:ln>
            <a:solidFill>
              <a:srgbClr val="23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4CC9F0"/>
                </a:solidFill>
              </a:defRPr>
            </a:pPr>
            <a:r>
              <a:t>📋 Adım Adım Akış Şeması</a:t>
            </a:r>
          </a:p>
          <a:p>
            <a:pPr>
              <a:spcBef>
                <a:spcPts val="1400"/>
              </a:spcBef>
              <a:defRPr sz="1200">
                <a:solidFill>
                  <a:srgbClr val="F8F9FA"/>
                </a:solidFill>
              </a:defRPr>
            </a:pPr>
            <a:r>
              <a:t>1. İstemci: E-posta ve şifre ile /register veya /login uç noktasına POST isteği atar.</a:t>
            </a:r>
          </a:p>
          <a:p>
            <a:pPr>
              <a:spcBef>
                <a:spcPts val="1400"/>
              </a:spcBef>
              <a:defRPr sz="1200">
                <a:solidFill>
                  <a:srgbClr val="F8F9FA"/>
                </a:solidFill>
              </a:defRPr>
            </a:pPr>
            <a:r>
              <a:t>2. Sunucu: PBKDF2 kriptografik doğrulamayı yapar, eğer kayıt ise yeni hesap oluşturur.</a:t>
            </a:r>
          </a:p>
          <a:p>
            <a:pPr>
              <a:spcBef>
                <a:spcPts val="1400"/>
              </a:spcBef>
              <a:defRPr sz="1200">
                <a:solidFill>
                  <a:srgbClr val="F8F9FA"/>
                </a:solidFill>
              </a:defRPr>
            </a:pPr>
            <a:r>
              <a:t>3. Sunucu: Rastgele session token üretir, Sessions tablosuna kaydeder.</a:t>
            </a:r>
          </a:p>
          <a:p>
            <a:pPr>
              <a:spcBef>
                <a:spcPts val="1400"/>
              </a:spcBef>
              <a:defRPr sz="1200">
                <a:solidFill>
                  <a:srgbClr val="F8F9FA"/>
                </a:solidFill>
              </a:defRPr>
            </a:pPr>
            <a:r>
              <a:t>4. İstemci: Gelen Token değerini Registry'e yazar, sonraki tüm lisans işlemlerinde bu token'ı kimlik doğrulaması olarak kullanır.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Lisans Kodu Üretimi ve Satın Alma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🎫 Lisans Kodu (License Code)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Uygulamaya kayıt olan her kullanıcının doğrudan lisans alması engellenmiştir.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Lisans alımı için öncelikle benzersiz bir satın alma kodu (License Code) üretilmeli ve bu kod istemcide aktifleştirilmelidir.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Format: ADA-[PLAN]-[16-Hex-Alfanümerik]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  • ADA-PRO-8F2B-A9C3-D5E7-10F4 (PRO Plan)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  • ADA-ENT-4B7E-9A1C-8D3F-5E2B (Kurumsal)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Kod üretimi kriptografik güvenli rastgele sayı üreteci (CSPRNG) ile yapılır, tahmin edilmesi imkansızdır.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4CC9F0"/>
                </a:solidFill>
              </a:defRPr>
            </a:pPr>
            <a:r>
              <a:t>💳 Satın Alma ve Yönetim Sayfası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Sunucu kök adreste (http://localhost:8765/) modern ve responsive bir Web Dashboard sunar.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Kullanıcı Satın Alma Ekranı: Kullanıcı e-postasını girip simüle edilmiş kart ödemesi ile anında lisans kodu satın alabilir.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Yönetici Paneli (Admin Portal): adminToken ile giriş yapılır. Kayıtlı hesaplar, üretilen kodlar ve aktif dijital lisanslar tablolar halinde izlenir.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Yönetici hızlı kod aracı ile tek tıkla toplu lisans kodu (PRO/Kurumsal) üretebilir.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Kriptografik İmzalama Algoritması (RSA-SHA256)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🔑 RSA Asimetrik Şifreleme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Güvenlik, sunucudaki RSA Özel Anahtarı (Private Key) ve istemcideki Açık Anahtar (Public Key) çiftine dayanır.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Özel anahtar kaynak kodda değil, sunucuda environment veya 'private-key.xml' dosyasında saklanır.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İstemcideki açık anahtar kaynak koda gömülüdür (hardcoded) ve değiştirilemez.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İmzalama aşamasında SHA-256 hash özeti alınır ve sunucu özel anahtarıyla imzalanarak lisansın sahtesi üretilemez hale getirilir.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21324"/>
          </a:solidFill>
          <a:ln>
            <a:solidFill>
              <a:srgbClr val="23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4CC9F0"/>
                </a:solidFill>
              </a:defRPr>
            </a:pPr>
            <a:r>
              <a:t>📝 Lisans Anahtarının Yapısı</a:t>
            </a:r>
          </a:p>
          <a:p>
            <a:pPr>
              <a:spcBef>
                <a:spcPts val="1000"/>
              </a:spcBef>
              <a:defRPr sz="1200">
                <a:solidFill>
                  <a:srgbClr val="4CC9F0"/>
                </a:solidFill>
                <a:latin typeface="Consolas"/>
              </a:defRPr>
            </a:pPr>
            <a:r>
              <a:t>Anahtar Formatı:</a:t>
            </a:r>
            <a:br/>
            <a:r>
              <a:t>[PAYLOAD] | [BASE64 DİJİTAL İMZA]</a:t>
            </a:r>
          </a:p>
          <a:p>
            <a:pPr>
              <a:spcBef>
                <a:spcPts val="800"/>
              </a:spcBef>
              <a:defRPr sz="1100">
                <a:solidFill>
                  <a:srgbClr val="F8F9FA"/>
                </a:solidFill>
                <a:latin typeface="Consolas"/>
              </a:defRPr>
            </a:pPr>
            <a:r>
              <a:t>Payload İçeriği (Boru '|' karakterli paket):</a:t>
            </a:r>
            <a:br/>
            <a:r>
              <a:t>ADA1 | PLAN | Şirket | E-posta | BitişTarihi | KoltukSayısı | HWID</a:t>
            </a:r>
          </a:p>
          <a:p>
            <a:pPr>
              <a:spcBef>
                <a:spcPts val="800"/>
              </a:spcBef>
              <a:defRPr sz="1100">
                <a:solidFill>
                  <a:srgbClr val="9EA3B0"/>
                </a:solidFill>
                <a:latin typeface="Consolas"/>
              </a:defRPr>
            </a:pPr>
            <a:r>
              <a:t>Örnek Payload Verisi:</a:t>
            </a:r>
            <a:br/>
            <a:r>
              <a:t>ADA1|PRO|Acme Co|user@acme.com|2027-06-03|1|7773D09D206633</a:t>
            </a:r>
          </a:p>
          <a:p>
            <a:pPr>
              <a:spcBef>
                <a:spcPts val="1200"/>
              </a:spcBef>
              <a:defRPr sz="1200">
                <a:solidFill>
                  <a:srgbClr val="F8F9FA"/>
                </a:solidFill>
              </a:defRPr>
            </a:pPr>
            <a:r>
              <a:t>Sunucu bu payload metnini RSA özel anahtarıyla imzalayıp sonuna ekleyerek istemciye gönderir. İstemci bu veriyi alıp Registry 'Key' hücresine kaydeder.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İstemci Tarafı Doğrulama ve Güvenlik Zinciri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💻 Çevrimdışı / Çevrim içi Doğrulama ve Kilit Açma Adımları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1. Registry Okuma: Uygulama açılışında HKCU altındaki lisans anahtarı çekilir. Yoksa kısıtlı Ücretsiz (Free) plan aktif olur.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2. İmza Doğrulama: Lisans anahtarından payload ve imza ayrıştırılır. Gömülü RSA açık anahtarı (Public Key XML) ile imza doğrulanır. İmza geçersizse veya payload değiştirilmişse işlem anında durdurulur.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3. Tarih Kontrolü: Bilgisayarın anlık saati, payload içindeki bitiş tarihiyle karşılaştırılır. Süresi bitmiş lisanslar devre dışı bırakılır.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4. Donanım Kilidi (Hardware Binding): Bilgisayarın GUID ve anakart/işlemci hash bilgisiyle oluşan yerel Donanım Kimliği (Hardware ID) hesaplanır. Payload içindeki donanım kimliğiyle karşılaştırılır. Eşleşmiyorsa lisans geçersiz sayılır (Joker '*' donanım kimliği hariç).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5. Lisans Aktifleştirme: Tüm adımlar başarılıysa özellik kilitleri açılır (Örn: PRO için PDF raporu, Kurumsal için toplu silme).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Dual-Mode Veritabanı ve Fallback Güvencesi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🎯 Neden Çift Modlu (Dual-Mode) Mimari?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Açık kaynaklı ve taşınabilir (portable) bir proje olması nedeniyle, harici veritabanı gereksinimi sunucuyu kurmayı zorlaştırabilir.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Dual-Mode yapısı sayesinde sunucu hiçbir ekstra veritabanı motoru olmadan (SQL Server, MySQL vs.) sıfır yapılandırmayla yerel XML DataSet üzerinden doğrudan çalışabilir.</a:t>
            </a:r>
          </a:p>
          <a:p>
            <a:pPr>
              <a:spcBef>
                <a:spcPts val="1200"/>
              </a:spcBef>
              <a:defRPr sz="1300">
                <a:solidFill>
                  <a:srgbClr val="F8F9FA"/>
                </a:solidFill>
              </a:defRPr>
            </a:pPr>
            <a:r>
              <a:t>Üretim ortamına alındığında (production) ise tek bir çevre değişkeniyle SQL Server veritabanına bağlanıp kurumsal ölçeğe geçebilir.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4CC9F0"/>
                </a:solidFill>
              </a:defRPr>
            </a:pPr>
            <a:r>
              <a:t>🛡️ Akıllı Geri Dönüş (Fallback) Nasıl Çalışır?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Sunucu başlatılırken ADA_DB_TYPE = MSSQL çevre değişkenini algılar.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SqlDatabaseProvider bağlantı cümlesiyle (Connection String) SQL Server'a bağlanmayı dener.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Bağlantı herhangi bir sebeple başarısız olursa (örneğin SQL Server kapalıysa, ağ kopuksa veya şifre yanlışsa):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  1. Try-Catch bloğu hatayı yakalar ve ekrana log basar.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  2. Sunucu çökmeden otomatik olarak XML DataSet modunu (XmlDatabaseProvider) başlatır.</a:t>
            </a:r>
          </a:p>
          <a:p>
            <a:pPr>
              <a:spcBef>
                <a:spcPts val="1000"/>
              </a:spcBef>
              <a:defRPr sz="1300">
                <a:solidFill>
                  <a:srgbClr val="F8F9FA"/>
                </a:solidFill>
              </a:defRPr>
            </a:pPr>
            <a:r>
              <a:t>  3. Servis kesintisiz çalışmaya devam eder.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5"/>
          </a:solidFill>
          <a:ln>
            <a:solidFill>
              <a:srgbClr val="0B0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9FA"/>
                </a:solidFill>
                <a:latin typeface="Outfit"/>
              </a:defRPr>
            </a:pPr>
            <a:r>
              <a:t>Özet ve Sunulan Güvenlik Standartları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20095" cy="36576"/>
          </a:xfrm>
          <a:prstGeom prst="rect">
            <a:avLst/>
          </a:prstGeom>
          <a:solidFill>
            <a:srgbClr val="5E60CE"/>
          </a:solidFill>
          <a:ln>
            <a:solidFill>
              <a:srgbClr val="5E6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5E60CE"/>
                </a:solidFill>
              </a:defRPr>
            </a:pPr>
            <a:r>
              <a:t>📈 Projenin Teknik Gücü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• Güvenli Kriptografi: PBKDF2 ve RSA-SHA256 algoritmalarıyla endüstriyel standartlarda güvenlik sağlanmıştır.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• Modüler Depolama: XML ve MSSQL arasında tek satır değişiklik yapmadan dinamik geçiş yapılabilir.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• Sıfır Bağımlılık (Zero Dependency): İstemci ve sunucu, harici NuGet paketlerine ihtiyaç duyulmadan tamamen .NET Framework 4.0/4.8 standart kütüphaneleriyle derlenebilir.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• Web Arayüz Kolaylığı: Gömülü CSS/JS arayüzü sayesinde ek bir web sunucusu (IIS/Apache/Nginx) gerektirmeden satın alma ve yönetim işlemleri tek port üzerinden yürütülür.</a:t>
            </a:r>
          </a:p>
          <a:p>
            <a:pPr>
              <a:spcBef>
                <a:spcPts val="1200"/>
              </a:spcBef>
              <a:defRPr sz="1400">
                <a:solidFill>
                  <a:srgbClr val="F8F9FA"/>
                </a:solidFill>
              </a:defRPr>
            </a:pPr>
            <a:r>
              <a:t>• Çevrimdışı Lisans Doğrulama: İstemci, bir kere lisans anahtarı kurduktan sonra sunucu kapalı olsa dahi lisans durumunu asimetrik olarak doğrulamaya devam eder.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