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1371600"/>
            <a:ext cx="8229600" cy="8229600"/>
          </a:xfrm>
          <a:prstGeom prst="ellipse">
            <a:avLst/>
          </a:prstGeom>
          <a:solidFill>
            <a:srgbClr val="181820"/>
          </a:solidFill>
          <a:ln w="25400">
            <a:solidFill>
              <a:srgbClr val="28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8079" y="-731520"/>
            <a:ext cx="6858000" cy="6858000"/>
          </a:xfrm>
          <a:prstGeom prst="ellipse">
            <a:avLst/>
          </a:prstGeom>
          <a:noFill/>
          <a:ln w="19050">
            <a:solidFill>
              <a:srgbClr val="FF8C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600" b="1">
                <a:solidFill>
                  <a:srgbClr val="F0F0F5"/>
                </a:solidFill>
                <a:latin typeface="Segoe UI Semibold"/>
              </a:defRPr>
            </a:pPr>
            <a:r>
              <a:t>Advanced Disk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FF8C00"/>
                </a:solidFill>
                <a:latin typeface="Segoe UI Light"/>
              </a:defRPr>
            </a:pPr>
            <a:r>
              <a:t>Yeni Nesil Disk Analiz ve Akıllı Temizlik Çözümü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A"/>
                </a:solidFill>
                <a:latin typeface="Segoe UI"/>
              </a:defRPr>
            </a:pPr>
            <a:r>
              <a:t>Açık Kaynak  ·  NTFS Turbo Tarama  ·  AI Destekli  ·  Güvenli  ·  Ücretsiz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Projenin Amacı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Neden böyle bir araca ihtiyaç var?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028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Görselleştirme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51760"/>
            <a:ext cx="4023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Disk kullanımını pasta grafikler, ağaç haritaları ve canlı listelerle</a:t>
            </a:r>
            <a:br/>
            <a:r>
              <a:t>anında görselleştirerek karmaşıklığı ortadan kaldırır.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4028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Hız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51760"/>
            <a:ext cx="4023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NTFS MFT motoruyla 1 TB'lık diski saniyeler içinde</a:t>
            </a:r>
            <a:br/>
            <a:r>
              <a:t>tarayarak kullanıcı zamanından tasarruf sağlar.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Güvenlik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09160"/>
            <a:ext cx="4023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Sistem dosyalarını koruyan akıllı güvenlik katmanıyla</a:t>
            </a:r>
            <a:br/>
            <a:r>
              <a:t>yanlışlıkla kritik dosyaların silinmesini engeller.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69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9768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Akıllı Analiz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709160"/>
            <a:ext cx="4023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AI tabanlı öneri motoruyla gereksiz dosyaları otomatik</a:t>
            </a:r>
            <a:br/>
            <a:r>
              <a:t>tespit ederek temizlik rehberi sunar.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Rakiplerle Karşılaştırma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WizTree ve TreeSize'a karşı neden tercih edilmeli?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23232D"/>
          </a:solidFill>
          <a:ln w="63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0F5"/>
                </a:solidFill>
                <a:latin typeface="Segoe UI"/>
              </a:defRPr>
            </a:pPr>
            <a:r>
              <a:t>Özellik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20240"/>
            <a:ext cx="2560320" cy="548640"/>
          </a:xfrm>
          <a:prstGeom prst="rect">
            <a:avLst/>
          </a:prstGeom>
          <a:solidFill>
            <a:srgbClr val="00A0FF"/>
          </a:solidFill>
          <a:ln w="63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0F5"/>
                </a:solidFill>
                <a:latin typeface="Segoe UI"/>
              </a:defRPr>
            </a:pPr>
            <a:r>
              <a:t>Advanced Disk</a:t>
            </a:r>
            <a:br/>
            <a:r>
              <a:t>Analyzer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920240"/>
            <a:ext cx="1828800" cy="548640"/>
          </a:xfrm>
          <a:prstGeom prst="rect">
            <a:avLst/>
          </a:prstGeom>
          <a:solidFill>
            <a:srgbClr val="23232D"/>
          </a:solidFill>
          <a:ln w="63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0A0AA"/>
                </a:solidFill>
                <a:latin typeface="Segoe UI"/>
              </a:defRPr>
            </a:pPr>
            <a:r>
              <a:t>WizTree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920240"/>
            <a:ext cx="1828800" cy="548640"/>
          </a:xfrm>
          <a:prstGeom prst="rect">
            <a:avLst/>
          </a:prstGeom>
          <a:solidFill>
            <a:srgbClr val="23232D"/>
          </a:solidFill>
          <a:ln w="63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0A0AA"/>
                </a:solidFill>
                <a:latin typeface="Segoe UI"/>
              </a:defRPr>
            </a:pPr>
            <a:r>
              <a:t>TreeSize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37744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Açık Kaynak Kod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468880"/>
            <a:ext cx="256032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4688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4688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AI Öneri Sistemi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256032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9260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9260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37744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Modern UI / Tema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383280"/>
            <a:ext cx="256032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3832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A0A0AA"/>
                </a:solidFill>
                <a:latin typeface="Segoe UI"/>
              </a:defRPr>
            </a:pPr>
            <a:r>
              <a:t>Kısmi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33832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237744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NTFS MFT Tarama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840480"/>
            <a:ext cx="256032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8404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8404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A0A0AA"/>
                </a:solidFill>
                <a:latin typeface="Segoe UI"/>
              </a:defRPr>
            </a:pPr>
            <a:r>
              <a:t>Kısmi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97680"/>
            <a:ext cx="237744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Tamamen Ücretsiz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297680"/>
            <a:ext cx="256032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42976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A0A0AA"/>
                </a:solidFill>
                <a:latin typeface="Segoe UI"/>
              </a:defRPr>
            </a:pPr>
            <a:r>
              <a:t>Kısmi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42976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Gizli Telemetri Yok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4754880"/>
            <a:ext cx="256032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47548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A0A0AA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4754880"/>
            <a:ext cx="1828800" cy="457200"/>
          </a:xfrm>
          <a:prstGeom prst="rect">
            <a:avLst/>
          </a:prstGeom>
          <a:solidFill>
            <a:srgbClr val="262630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12080"/>
            <a:ext cx="237744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F0F0F5"/>
                </a:solidFill>
                <a:latin typeface="Segoe UI"/>
              </a:defRPr>
            </a:pPr>
            <a:r>
              <a:t>Canlı Liste (Live)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5212080"/>
            <a:ext cx="256032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DC78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52120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5212080"/>
            <a:ext cx="1828800" cy="457200"/>
          </a:xfrm>
          <a:prstGeom prst="rect">
            <a:avLst/>
          </a:prstGeom>
          <a:solidFill>
            <a:srgbClr val="1E1E26"/>
          </a:solidFill>
          <a:ln w="381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506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✓ = Destekleniyor   ✗ = Desteklenmiyor   ? = Belirsiz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cover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Tamamen Açık Kaynak Güvencesi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Şeffaflık, güven ve topluluk gücü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0972800" cy="3931920"/>
          </a:xfrm>
          <a:prstGeom prst="roundRect">
            <a:avLst>
              <a:gd name="adj" fmla="val 3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t>▸  Kaynak kodlar tamamen açıktır — herkes inceleyebilir, denetleyebilir ve katkı sağlayabilir.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t>▸  Ticari rakiplerin aksine hiçbir telemetri, analitik veya gizli veri toplama mekanizması yoktur.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t>▸  Kurumsal firmalar kendi güvenlik politikalarına uygun şekilde kodu denetleyip iç kullanımda yayınlayabilir.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t>▸  Topluluk destekli geliştirme modeli sayesinde hata tespiti ve düzeltmeler çok daha hızlı gerçekleşir.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t>▸  Ücretsizdir ve sonsuza kadar ücretsiz kalacaktır — lisans ücreti, reklam veya premium kısıtlama yoktur.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0" y="2743200"/>
            <a:ext cx="1371600" cy="1371600"/>
          </a:xfrm>
          <a:prstGeom prst="ellipse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21218"/>
                </a:solidFill>
              </a:defRPr>
            </a:pPr>
            <a:r>
              <a:t>&lt;/&gt;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Modern Tarama Altyapısı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Işık hızında disk analizi nasıl çalışır?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3172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NTFS Turbo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22860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Windows'un MFT (Master File Table)</a:t>
            </a:r>
            <a:br/>
            <a:r>
              <a:t>tablosunu doğrudan okuyarak</a:t>
            </a:r>
            <a:br/>
            <a:r>
              <a:t>tüm diski saniyeler içinde tarar.</a:t>
            </a:r>
            <a:br/>
            <a:r>
              <a:t>Yönetici modunda maksimum hız.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3172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WinAPI FastScan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743200"/>
            <a:ext cx="22860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FindFirstFile/FindNextFile kernel</a:t>
            </a:r>
            <a:br/>
            <a:r>
              <a:t>API'leri ile çok çekirdekli paralel</a:t>
            </a:r>
            <a:br/>
            <a:r>
              <a:t>tarama. SSD'lerde CPU sayısı</a:t>
            </a:r>
            <a:br/>
            <a:r>
              <a:t>kadar thread, HDD'de 2 thread.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2423160"/>
            <a:ext cx="502920" cy="502920"/>
          </a:xfrm>
          <a:prstGeom prst="ellipse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218"/>
                </a:solidFill>
              </a:defRPr>
            </a:pPr>
            <a: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33172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Canlı İzleme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743200"/>
            <a:ext cx="22860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Tarama devam ederken dosyalar</a:t>
            </a:r>
            <a:br/>
            <a:r>
              <a:t>anlık olarak listeye eklenir.</a:t>
            </a:r>
            <a:br/>
            <a:r>
              <a:t>UI donması olmadan milyonlarca</a:t>
            </a:r>
            <a:br/>
            <a:r>
              <a:t>dosya gerçek zamanlı gösterilir.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646E"/>
                </a:solidFill>
                <a:latin typeface="Segoe UI"/>
              </a:defRPr>
            </a:pPr>
            <a:r>
              <a:t>Tarama motoru; sürücü tipine (SSD/HDD/Ağ) göre otomatik olarak en uygun stratejiyi seçer.</a:t>
            </a:r>
            <a:br/>
            <a:r>
              <a:t>Allocated size, hard-link deduplikasyonu ve cluster hizalama hesaplamaları dahili olarak yapılır.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Güvenlik ve Koruma Katmanları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Sisteminiz her zaman güvende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03520" cy="173736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73152" cy="1737360"/>
          </a:xfrm>
          <a:prstGeom prst="rect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Sistem Dosyası Koruması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C:\Windows, System32 gibi kritik klasörlerdeki dosyaların silinmesi fiziksel olarak engellenmiştir.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5303520" cy="173736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73152" cy="1737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Kilitli Dosya Tespiti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5176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Sistem tarafından kullanımda olan dosyalar algılanır ve hata vermeden güvenle atlanır.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5303520" cy="173736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73152" cy="173736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Yetki Güvenliği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Erişim izni olmayan klasörlerde tarama kesilmez, izinsiz dizinler sessizce geçilir.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40"/>
            <a:ext cx="5303520" cy="173736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977640"/>
            <a:ext cx="73152" cy="1737360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F0F0F5"/>
                </a:solidFill>
                <a:latin typeface="Segoe UI"/>
              </a:defRPr>
            </a:pPr>
            <a:r>
              <a:t>Silme Onayı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1772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A0A0AA"/>
                </a:solidFill>
                <a:latin typeface="Segoe UI"/>
              </a:defRPr>
            </a:pPr>
            <a:r>
              <a:t>Kullanıcı bir dosyayı silmeden önce çift katmanlı onay mekanizması devreye girer.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noFill/>
          <a:ln w="19050">
            <a:solidFill>
              <a:srgbClr val="FF8C0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1554480"/>
            <a:ext cx="731520" cy="731520"/>
          </a:xfrm>
          <a:prstGeom prst="ellipse">
            <a:avLst/>
          </a:prstGeom>
          <a:noFill/>
          <a:ln w="19050">
            <a:solidFill>
              <a:srgbClr val="00A0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AI Destekli Akıllı Öneri Sistemi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Disk temizliğinde yapay zeka devrimi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7007"/>
            <a:ext cx="7315200" cy="3931920"/>
          </a:xfrm>
          <a:prstGeom prst="roundRect">
            <a:avLst>
              <a:gd name="adj" fmla="val 3000"/>
            </a:avLst>
          </a:prstGeom>
          <a:solidFill>
            <a:srgbClr val="1E1E26"/>
          </a:solidFill>
          <a:ln w="1270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84021"/>
            <a:ext cx="6400800" cy="3537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rPr sz="1400" dirty="0"/>
              <a:t>▸  Dosya </a:t>
            </a:r>
            <a:r>
              <a:rPr sz="1400" dirty="0" err="1"/>
              <a:t>yaşını</a:t>
            </a:r>
            <a:r>
              <a:rPr sz="1400" dirty="0"/>
              <a:t>, </a:t>
            </a:r>
            <a:r>
              <a:rPr sz="1400" dirty="0" err="1"/>
              <a:t>boyutunu</a:t>
            </a:r>
            <a:r>
              <a:rPr sz="1400" dirty="0"/>
              <a:t>, </a:t>
            </a:r>
            <a:r>
              <a:rPr sz="1400" dirty="0" err="1"/>
              <a:t>türünü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konumunu</a:t>
            </a:r>
            <a:r>
              <a:rPr sz="1400" dirty="0"/>
              <a:t> </a:t>
            </a:r>
            <a:r>
              <a:rPr sz="1400" dirty="0" err="1"/>
              <a:t>birlikte</a:t>
            </a:r>
            <a:r>
              <a:rPr sz="1400" dirty="0"/>
              <a:t> </a:t>
            </a:r>
            <a:r>
              <a:rPr sz="1400" dirty="0" err="1"/>
              <a:t>değerlendiren</a:t>
            </a:r>
            <a:r>
              <a:rPr sz="1400" dirty="0"/>
              <a:t> </a:t>
            </a:r>
            <a:r>
              <a:rPr sz="1400" dirty="0" err="1"/>
              <a:t>çok</a:t>
            </a:r>
            <a:r>
              <a:rPr sz="1400" dirty="0"/>
              <a:t> </a:t>
            </a:r>
            <a:r>
              <a:rPr sz="1400" dirty="0" err="1"/>
              <a:t>faktörlü</a:t>
            </a:r>
            <a:r>
              <a:rPr sz="1400" dirty="0"/>
              <a:t> </a:t>
            </a:r>
            <a:r>
              <a:rPr sz="1400" dirty="0" err="1"/>
              <a:t>puanlama</a:t>
            </a:r>
            <a:r>
              <a:rPr sz="1400" dirty="0"/>
              <a:t> </a:t>
            </a:r>
            <a:r>
              <a:rPr sz="1400" dirty="0" err="1"/>
              <a:t>algoritması</a:t>
            </a:r>
            <a:r>
              <a:rPr sz="1400" dirty="0"/>
              <a:t>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rPr sz="1400" dirty="0"/>
              <a:t>▸  </a:t>
            </a:r>
            <a:r>
              <a:rPr sz="1400" dirty="0" err="1"/>
              <a:t>Geçici</a:t>
            </a:r>
            <a:r>
              <a:rPr sz="1400" dirty="0"/>
              <a:t> </a:t>
            </a:r>
            <a:r>
              <a:rPr sz="1400" dirty="0" err="1"/>
              <a:t>dosyalar</a:t>
            </a:r>
            <a:r>
              <a:rPr sz="1400" dirty="0"/>
              <a:t> (temp), log </a:t>
            </a:r>
            <a:r>
              <a:rPr sz="1400" dirty="0" err="1"/>
              <a:t>dosyaları</a:t>
            </a:r>
            <a:r>
              <a:rPr sz="1400" dirty="0"/>
              <a:t>, </a:t>
            </a:r>
            <a:r>
              <a:rPr sz="1400" dirty="0" err="1"/>
              <a:t>eski</a:t>
            </a:r>
            <a:r>
              <a:rPr sz="1400" dirty="0"/>
              <a:t> </a:t>
            </a:r>
            <a:r>
              <a:rPr sz="1400" dirty="0" err="1"/>
              <a:t>güncelleme</a:t>
            </a:r>
            <a:r>
              <a:rPr sz="1400" dirty="0"/>
              <a:t> </a:t>
            </a:r>
            <a:r>
              <a:rPr sz="1400" dirty="0" err="1"/>
              <a:t>artıkları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önbellek</a:t>
            </a:r>
            <a:r>
              <a:rPr sz="1400" dirty="0"/>
              <a:t> </a:t>
            </a:r>
            <a:r>
              <a:rPr sz="1400" dirty="0" err="1"/>
              <a:t>klasörleri</a:t>
            </a:r>
            <a:r>
              <a:rPr sz="1400" dirty="0"/>
              <a:t> </a:t>
            </a:r>
            <a:r>
              <a:rPr sz="1400" dirty="0" err="1"/>
              <a:t>otomatik</a:t>
            </a:r>
            <a:r>
              <a:rPr sz="1400" dirty="0"/>
              <a:t> </a:t>
            </a:r>
            <a:r>
              <a:rPr sz="1400" dirty="0" err="1"/>
              <a:t>tespit</a:t>
            </a:r>
            <a:r>
              <a:rPr sz="1400" dirty="0"/>
              <a:t> </a:t>
            </a:r>
            <a:r>
              <a:rPr sz="1400" dirty="0" err="1"/>
              <a:t>edilir</a:t>
            </a:r>
            <a:r>
              <a:rPr sz="1400" dirty="0"/>
              <a:t>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rPr sz="1400" dirty="0"/>
              <a:t>▸  Her </a:t>
            </a:r>
            <a:r>
              <a:rPr sz="1400" dirty="0" err="1"/>
              <a:t>dosyaya</a:t>
            </a:r>
            <a:r>
              <a:rPr sz="1400" dirty="0"/>
              <a:t> </a:t>
            </a:r>
            <a:r>
              <a:rPr sz="1400" dirty="0" err="1"/>
              <a:t>dinamik</a:t>
            </a:r>
            <a:r>
              <a:rPr sz="1400" dirty="0"/>
              <a:t> </a:t>
            </a:r>
            <a:r>
              <a:rPr sz="1400" dirty="0" err="1"/>
              <a:t>bir</a:t>
            </a:r>
            <a:r>
              <a:rPr sz="1400" dirty="0"/>
              <a:t> risk/</a:t>
            </a:r>
            <a:r>
              <a:rPr sz="1400" dirty="0" err="1"/>
              <a:t>önem</a:t>
            </a:r>
            <a:r>
              <a:rPr sz="1400" dirty="0"/>
              <a:t> </a:t>
            </a:r>
            <a:r>
              <a:rPr sz="1400" dirty="0" err="1"/>
              <a:t>skoru</a:t>
            </a:r>
            <a:r>
              <a:rPr sz="1400" dirty="0"/>
              <a:t> </a:t>
            </a:r>
            <a:r>
              <a:rPr sz="1400" dirty="0" err="1"/>
              <a:t>atanır</a:t>
            </a:r>
            <a:r>
              <a:rPr sz="1400" dirty="0"/>
              <a:t> — </a:t>
            </a:r>
            <a:r>
              <a:rPr sz="1400" dirty="0" err="1"/>
              <a:t>yüksek</a:t>
            </a:r>
            <a:r>
              <a:rPr sz="1400" dirty="0"/>
              <a:t> </a:t>
            </a:r>
            <a:r>
              <a:rPr sz="1400" dirty="0" err="1"/>
              <a:t>skorlular</a:t>
            </a:r>
            <a:r>
              <a:rPr sz="1400" dirty="0"/>
              <a:t> </a:t>
            </a:r>
            <a:r>
              <a:rPr sz="1400" dirty="0" err="1"/>
              <a:t>öncelikli</a:t>
            </a:r>
            <a:r>
              <a:rPr sz="1400" dirty="0"/>
              <a:t> </a:t>
            </a:r>
            <a:r>
              <a:rPr sz="1400" dirty="0" err="1"/>
              <a:t>temizlik</a:t>
            </a:r>
            <a:r>
              <a:rPr sz="1400" dirty="0"/>
              <a:t> </a:t>
            </a:r>
            <a:r>
              <a:rPr sz="1400" dirty="0" err="1"/>
              <a:t>adayıdır</a:t>
            </a:r>
            <a:r>
              <a:rPr sz="1400" dirty="0"/>
              <a:t>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rPr sz="1400" dirty="0"/>
              <a:t>▸  </a:t>
            </a:r>
            <a:r>
              <a:rPr sz="1400" dirty="0" err="1"/>
              <a:t>Kullanıcı</a:t>
            </a:r>
            <a:r>
              <a:rPr sz="1400" dirty="0"/>
              <a:t> </a:t>
            </a:r>
            <a:r>
              <a:rPr sz="1400" dirty="0" err="1"/>
              <a:t>tek</a:t>
            </a:r>
            <a:r>
              <a:rPr sz="1400" dirty="0"/>
              <a:t> </a:t>
            </a:r>
            <a:r>
              <a:rPr sz="1400" dirty="0" err="1"/>
              <a:t>tıklama</a:t>
            </a:r>
            <a:r>
              <a:rPr sz="1400" dirty="0"/>
              <a:t> </a:t>
            </a:r>
            <a:r>
              <a:rPr sz="1400" dirty="0" err="1"/>
              <a:t>ile</a:t>
            </a:r>
            <a:r>
              <a:rPr sz="1400" dirty="0"/>
              <a:t> </a:t>
            </a:r>
            <a:r>
              <a:rPr sz="1400" dirty="0" err="1"/>
              <a:t>gigabaytlarca</a:t>
            </a:r>
            <a:r>
              <a:rPr sz="1400" dirty="0"/>
              <a:t> </a:t>
            </a:r>
            <a:r>
              <a:rPr sz="1400" dirty="0" err="1"/>
              <a:t>alanı</a:t>
            </a:r>
            <a:r>
              <a:rPr sz="1400" dirty="0"/>
              <a:t> </a:t>
            </a:r>
            <a:r>
              <a:rPr sz="1400" dirty="0" err="1"/>
              <a:t>güvenle</a:t>
            </a:r>
            <a:r>
              <a:rPr sz="1400" dirty="0"/>
              <a:t> </a:t>
            </a:r>
            <a:r>
              <a:rPr sz="1400" dirty="0" err="1"/>
              <a:t>geri</a:t>
            </a:r>
            <a:r>
              <a:rPr sz="1400" dirty="0"/>
              <a:t> </a:t>
            </a:r>
            <a:r>
              <a:rPr sz="1400" dirty="0" err="1"/>
              <a:t>kazanabilir</a:t>
            </a:r>
            <a:r>
              <a:rPr sz="1400" dirty="0"/>
              <a:t>.</a:t>
            </a:r>
          </a:p>
          <a:p>
            <a:pPr>
              <a:lnSpc>
                <a:spcPts val="2600"/>
              </a:lnSpc>
              <a:spcAft>
                <a:spcPts val="1600"/>
              </a:spcAft>
              <a:defRPr sz="1700">
                <a:solidFill>
                  <a:srgbClr val="F0F0F5"/>
                </a:solidFill>
                <a:latin typeface="Segoe UI"/>
              </a:defRPr>
            </a:pPr>
            <a:r>
              <a:rPr sz="1400" dirty="0"/>
              <a:t>▸  </a:t>
            </a:r>
            <a:r>
              <a:rPr sz="1400" dirty="0" err="1"/>
              <a:t>Sistem</a:t>
            </a:r>
            <a:r>
              <a:rPr sz="1400" dirty="0"/>
              <a:t> </a:t>
            </a:r>
            <a:r>
              <a:rPr sz="1400" dirty="0" err="1"/>
              <a:t>dosyaları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kritik</a:t>
            </a:r>
            <a:r>
              <a:rPr sz="1400" dirty="0"/>
              <a:t> </a:t>
            </a:r>
            <a:r>
              <a:rPr sz="1400" dirty="0" err="1"/>
              <a:t>uygulamalar</a:t>
            </a:r>
            <a:r>
              <a:rPr sz="1400" dirty="0"/>
              <a:t> </a:t>
            </a:r>
            <a:r>
              <a:rPr sz="1400" dirty="0" err="1"/>
              <a:t>asla</a:t>
            </a:r>
            <a:r>
              <a:rPr sz="1400" dirty="0"/>
              <a:t> </a:t>
            </a:r>
            <a:r>
              <a:rPr sz="1400" dirty="0" err="1"/>
              <a:t>öneri</a:t>
            </a:r>
            <a:r>
              <a:rPr sz="1400" dirty="0"/>
              <a:t> </a:t>
            </a:r>
            <a:r>
              <a:rPr sz="1400" dirty="0" err="1"/>
              <a:t>listesine</a:t>
            </a:r>
            <a:r>
              <a:rPr sz="1400" dirty="0"/>
              <a:t> </a:t>
            </a:r>
            <a:r>
              <a:rPr sz="1400" dirty="0" err="1"/>
              <a:t>dahil</a:t>
            </a:r>
            <a:r>
              <a:rPr sz="1400" dirty="0"/>
              <a:t> </a:t>
            </a:r>
            <a:r>
              <a:rPr sz="1400" dirty="0" err="1"/>
              <a:t>edilmez</a:t>
            </a:r>
            <a:r>
              <a:rPr sz="14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383280" cy="393192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1905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B464FF"/>
                </a:solidFill>
                <a:latin typeface="Segoe UI"/>
              </a:defRPr>
            </a:pPr>
            <a:r>
              <a:t>AI Skor Önizleme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0A0AA"/>
                </a:solidFill>
                <a:latin typeface="Segoe UI"/>
              </a:defRPr>
            </a:pPr>
            <a:r>
              <a:t>temp_cache.dat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2606040"/>
            <a:ext cx="777240" cy="320040"/>
          </a:xfrm>
          <a:prstGeom prst="roundRect">
            <a:avLst>
              <a:gd name="adj" fmla="val 30000"/>
            </a:avLst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</a:defRPr>
            </a:pPr>
            <a:r>
              <a:t>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546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0A0AA"/>
                </a:solidFill>
                <a:latin typeface="Segoe UI"/>
              </a:defRPr>
            </a:pPr>
            <a:r>
              <a:t>old_update.cab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3200400"/>
            <a:ext cx="777240" cy="320040"/>
          </a:xfrm>
          <a:prstGeom prst="roundRect">
            <a:avLst>
              <a:gd name="adj" fmla="val 30000"/>
            </a:avLst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</a:defRPr>
            </a:pPr>
            <a: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749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0A0AA"/>
                </a:solidFill>
                <a:latin typeface="Segoe UI"/>
              </a:defRPr>
            </a:pPr>
            <a:r>
              <a:t>game_logs.txt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3794760"/>
            <a:ext cx="777240" cy="320040"/>
          </a:xfrm>
          <a:prstGeom prst="roundRect">
            <a:avLst>
              <a:gd name="adj" fmla="val 30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</a:defRPr>
            </a:pPr>
            <a:r>
              <a:t>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3434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0A0AA"/>
                </a:solidFill>
                <a:latin typeface="Segoe UI"/>
              </a:defRPr>
            </a:pPr>
            <a:r>
              <a:t>project_v2.zip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4389120"/>
            <a:ext cx="777240" cy="320040"/>
          </a:xfrm>
          <a:prstGeom prst="roundRect">
            <a:avLst>
              <a:gd name="adj" fmla="val 30000"/>
            </a:avLst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</a:defRPr>
            </a:pPr>
            <a: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937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0A0AA"/>
                </a:solidFill>
                <a:latin typeface="Segoe UI"/>
              </a:defRPr>
            </a:pPr>
            <a:r>
              <a:t>system32.dll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4983480"/>
            <a:ext cx="777240" cy="320040"/>
          </a:xfrm>
          <a:prstGeom prst="roundRect">
            <a:avLst>
              <a:gd name="adj" fmla="val 30000"/>
            </a:avLst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cover dir="l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0F0F5"/>
                </a:solidFill>
                <a:latin typeface="Segoe UI Semibold"/>
              </a:defRPr>
            </a:pPr>
            <a:r>
              <a:t>Sistem Mimarisi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A"/>
                </a:solidFill>
                <a:latin typeface="Segoe UI"/>
              </a:defRPr>
            </a:pPr>
            <a:r>
              <a:t>Katmanlı yazılım bileşenleri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058400" cy="685800"/>
          </a:xfrm>
          <a:prstGeom prst="roundRect">
            <a:avLst>
              <a:gd name="adj" fmla="val 15000"/>
            </a:avLst>
          </a:prstGeom>
          <a:solidFill>
            <a:srgbClr val="1E1E26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901952"/>
            <a:ext cx="365760" cy="365760"/>
          </a:xfrm>
          <a:prstGeom prst="ellipse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1051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Kullanıcı Arayüzü (UI)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8961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WinForms  |  Karanlık/Aydınlık Tema  |  Modern Kontroller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9692640" cy="685800"/>
          </a:xfrm>
          <a:prstGeom prst="roundRect">
            <a:avLst>
              <a:gd name="adj" fmla="val 15000"/>
            </a:avLst>
          </a:prstGeom>
          <a:solidFill>
            <a:srgbClr val="1E1E26"/>
          </a:solidFill>
          <a:ln w="1905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770632"/>
            <a:ext cx="365760" cy="365760"/>
          </a:xfrm>
          <a:prstGeom prst="ellipse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7919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Analiz Motoru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71800"/>
            <a:ext cx="8595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AI Skor Hesaplama  |  Pasta/Treemap Grafik  |  Gerçek Zamanlı İstatistik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474720"/>
            <a:ext cx="9326880" cy="685800"/>
          </a:xfrm>
          <a:prstGeom prst="roundRect">
            <a:avLst>
              <a:gd name="adj" fmla="val 15000"/>
            </a:avLst>
          </a:prstGeom>
          <a:solidFill>
            <a:srgbClr val="1E1E26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88720" y="3639312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4787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Tarama Katmanı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84048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NTFS MFT Turbo  |  WinAPI FastScan  |  Paralel I/O  |  Hard-Link Deduplikasyon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343400"/>
            <a:ext cx="8961120" cy="685800"/>
          </a:xfrm>
          <a:prstGeom prst="roundRect">
            <a:avLst>
              <a:gd name="adj" fmla="val 15000"/>
            </a:avLst>
          </a:prstGeom>
          <a:solidFill>
            <a:srgbClr val="1E1E26"/>
          </a:solidFill>
          <a:ln w="19050">
            <a:solidFill>
              <a:srgbClr val="FF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07992"/>
            <a:ext cx="365760" cy="365760"/>
          </a:xfrm>
          <a:prstGeom prst="ellipse">
            <a:avLst/>
          </a:prstGeom>
          <a:solidFill>
            <a:srgbClr val="FF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218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1655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Güvenlik Katmanı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60"/>
            <a:ext cx="7863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Sistem Koruması  |  Kilitli Dosya Tespiti  |  Yetki Yönetimi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80"/>
            <a:ext cx="8595360" cy="685800"/>
          </a:xfrm>
          <a:prstGeom prst="roundRect">
            <a:avLst>
              <a:gd name="adj" fmla="val 15000"/>
            </a:avLst>
          </a:prstGeom>
          <a:solidFill>
            <a:srgbClr val="1E1E26"/>
          </a:solidFill>
          <a:ln w="19050">
            <a:solidFill>
              <a:srgbClr val="50D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554480" y="5376672"/>
            <a:ext cx="365760" cy="365760"/>
          </a:xfrm>
          <a:prstGeom prst="ellipse">
            <a:avLst/>
          </a:prstGeom>
          <a:solidFill>
            <a:srgbClr val="50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218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8523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İşletim Sistemi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77840"/>
            <a:ext cx="7498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646E"/>
                </a:solidFill>
                <a:latin typeface="Segoe UI"/>
              </a:defRPr>
            </a:pPr>
            <a:r>
              <a:t>Windows Kernel  |  NTFS  |  Win32 API  |  P/Invoke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0" y="-1828800"/>
            <a:ext cx="10972800" cy="10972800"/>
          </a:xfrm>
          <a:prstGeom prst="ellipse">
            <a:avLst/>
          </a:prstGeom>
          <a:solidFill>
            <a:srgbClr val="16161C"/>
          </a:solidFill>
          <a:ln w="25400">
            <a:solidFill>
              <a:srgbClr val="23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60" y="137160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474720"/>
            <a:ext cx="12192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0F0F5"/>
                </a:solidFill>
                <a:latin typeface="Segoe UI Semibold"/>
              </a:defRPr>
            </a:pPr>
            <a: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8C00"/>
                </a:solidFill>
                <a:latin typeface="Segoe UI"/>
              </a:defRPr>
            </a:pPr>
            <a:r>
              <a:t>Sorularınız ve geri bildirimleriniz için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4646E"/>
                </a:solidFill>
                <a:latin typeface="Segoe UI"/>
              </a:defRPr>
            </a:pPr>
            <a:r>
              <a:t>Advanced Disk Analyzer — Açık Kaynak · Güvenli · Akıllı · Hızlı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E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64646E"/>
                </a:solidFill>
                <a:latin typeface="Segoe UI"/>
              </a:defRPr>
            </a:pPr>
            <a:r>
              <a:t>Advanced Disk Analyzer  |  Açık Kaynak Disk Yönetim Çözümü  |  2025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763</Words>
  <Application>Microsoft Office PowerPoint</Application>
  <PresentationFormat>Geniş ekran</PresentationFormat>
  <Paragraphs>133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Çağan Demir Erim</cp:lastModifiedBy>
  <cp:revision>2</cp:revision>
  <dcterms:created xsi:type="dcterms:W3CDTF">2013-01-27T09:14:16Z</dcterms:created>
  <dcterms:modified xsi:type="dcterms:W3CDTF">2026-06-02T08:55:04Z</dcterms:modified>
  <cp:category/>
</cp:coreProperties>
</file>